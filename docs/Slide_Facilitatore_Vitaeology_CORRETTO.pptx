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Dare 20 minuti per l'esercizio individuale. Poi facilitare condivisione in gruppi di 3. Far emergere gli schemi comuni. Chiarire bene la differenza tra risorsa e competenza.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Far praticare la riscrittura di riscontri giudicanti in formato S-C-E. È un'abilità che richiede pratica. Dare esempi concreti dal loro contesto lavorativo.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VITAEOLOGY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Programma di Sviluppo della Leadership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ZERO A LEADER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Guida per il Facilitatore — Edizione Professionale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0" y="3657600"/>
            <a:ext cx="1828800" cy="4572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Basato sulle 24 Caratteristiche del Genio (Dott. Alfred Barrios, 1980)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sul libro «Leadership Autentica» di Fernando Marongiu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Panoramica del Corso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STRUTTURA: 4 Moduli — 33 ore totali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Modulo 1: Consapevolezza di Sé (6 ore)
</a:t>
            </a:r>
            <a:pPr indent="0" marL="0">
              <a:buNone/>
            </a:pPr>
            <a:r>
              <a:rPr lang="en-US" sz="13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Risorse personali, valori, stile di comunicazione
</a:t>
            </a:r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Modulo 2: Competenze Relazionali (9 ore)
</a:t>
            </a:r>
            <a:pPr indent="0" marL="0">
              <a:buNone/>
            </a:pPr>
            <a:r>
              <a:rPr lang="en-US" sz="13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Fiducia, riscontro, delega
</a:t>
            </a:r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Modulo 3: Autogoverno e Visione (9 ore)
</a:t>
            </a:r>
            <a:pPr indent="0" marL="0">
              <a:buNone/>
            </a:pPr>
            <a:r>
              <a:rPr lang="en-US" sz="13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Costituzione personale, resistenza, visione strategica
</a:t>
            </a:r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Modulo 4: Leadership Trasformativa (9 ore)
</a:t>
            </a:r>
            <a:pPr indent="0" marL="0">
              <a:buNone/>
            </a:pPr>
            <a:r>
              <a:rPr lang="en-US" sz="13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Sviluppo altri, prospettive multiple, successione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Vitaeology | Da Zero a Leader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Principio AVERE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118872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144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CONCETTO CHIAVE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giudichiamo l'ESSERE (identità) né il FARE (comportamenti).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concentriamo su ciò che il partecipante AVRÀ al termine: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strumenti, metodi, documenti verificabili.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libertà sta nella possibilità stessa di AVERE o NON AVERE.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Questo distingue Vitaeology da approcci che giudicano chi sei o cosa fai.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108960"/>
            <a:ext cx="8229600" cy="640080"/>
          </a:xfrm>
          <a:prstGeom prst="rect">
            <a:avLst/>
          </a:prstGeom>
          <a:solidFill>
            <a:srgbClr val="F3E5F5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2004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Principio fondamentale del sistema Vitaeology — Ogni modulo produce risultati tangibili e documentati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Vitaeology | Da Zero a Leader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12 Prodotti Verificabili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Ogni partecipante termina con 12 documenti concreti: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MODULO 1
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Lista 5 risorse   ☐ Documento 3 valori   ☐ Profilo comunicazione
</a:t>
            </a:r>
            <a:pPr indent="0" marL="0">
              <a:buNone/>
            </a:pPr>
            <a:r>
              <a:rPr lang="en-US" sz="1300" b="1" dirty="0">
                <a:solidFill>
                  <a:srgbClr val="F5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MODULO 2
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Piano fiducia 4 sett.   ☐ Traccia S-C-E   ☐ 3 deleghe attivate
</a:t>
            </a:r>
            <a:pPr indent="0" marL="0">
              <a:buNone/>
            </a:pPr>
            <a:r>
              <a:rPr lang="en-US" sz="1300" b="1" dirty="0">
                <a:solidFill>
                  <a:srgbClr val="F5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MODULO 3
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Costituzione personale   ☐ Punti cedimento + difese   ☐ Visione 3 anni
</a:t>
            </a:r>
            <a:pPr indent="0" marL="0">
              <a:buNone/>
            </a:pPr>
            <a:r>
              <a:rPr lang="en-US" sz="1300" b="1" dirty="0">
                <a:solidFill>
                  <a:srgbClr val="F5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MODULO 4
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Piano sviluppo 2 persone   ☐ Analisi 4 prospettive   ☐ Piano successione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Vitaeology | Da Zero a Leader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MODULO 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0" y="137160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CONSAPEVOLEZZA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 SÉ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0" y="25603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«Conosci il tuo strumento prima di suonare»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0" y="3200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Pilastro Barrios: VISIONE (n. 4 Conoscenza, n. 5 Onestà)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0" y="36576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Durata: 6 ore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Modulo 1 — Obiettivo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termine di questo modulo, ogni partecipante AVRÀ: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Una mappa scritta delle proprie 5 risorse dominanti
</a:t>
            </a:r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 inventario dei propri 3 valori non negoziabili
</a:t>
            </a:r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 profilo del proprio stile di comunicazione naturale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Unità 1.1 Le Risorse Personali (2 ore)
</a:t>
            </a:r>
            <a:pPr indent="0" marL="0">
              <a:buNone/>
            </a:pPr>
            <a:r>
              <a:rPr lang="en-US" sz="13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Unità 1.2 I Valori Non Negoziabili (2 ore)
</a:t>
            </a:r>
            <a:pPr indent="0" marL="0">
              <a:buNone/>
            </a:pPr>
            <a:r>
              <a:rPr lang="en-US" sz="13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Unità 1.3 Lo Stile di Comunicazione (2 ore)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Vitaeology | Da Zero a Leader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Unità 1.1 — Le Risorse Personali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00584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1440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CONCETTO: Le risorse sono qualità innate — come attrezzi nella cassetta.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si tratta di cosa SEI, ma di cosa HAI a disposizione.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8229600" cy="64008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0574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NOTA: Risorsa ≠ Competenza. Risorsa = qualità innata (es. curiosità). Competenza = acquisita (es. usare un programma).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8229600" cy="146304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8346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✏️ ESERCIZIO: L'inventario delle vittorie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2004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Scrivi 5 momenti di successo senza sforzo eccessivo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Per ciascuno: «Cosa avevo io che altri non avevano?»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Raggruppa le risposte: vedrai schemi ricorrenti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20 min individuale + 15 min condivisione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Vitaeology | Da Zero a Leader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Unità 1.2 — I Valori Non Negoziabili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91440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144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CONCETTO: I valori sono come la bussola di una nave.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ti dicono DOVE andare, ma quando stai andando nella direzione sbagliata.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8229600" cy="137160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0116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✏️ ESERCIZIO: Il test del rifiuto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Pensa a 3 offerte che hai rifiutato nella vita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Per ciascuna: «Ho detto no perché avrebbe violato...»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Cosa emerge? Quelli sono i tuoi valori operativi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15 min individuale + 10 min condivisione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solidFill>
            <a:srgbClr val="F3E5F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5661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Caratteristica Barrios n. 5 Onestà e n. 23 Idealismo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Vitaeology | Da Zero a Leader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Unità 1.3 — Lo Stile di Comunicazione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82296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144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CONCETTO: Lo stile è come l'accento quando parli. Non è giusto o sbagliato —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 se non sai che accento hai, non capisci perché alcuni ti fraintendono.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4 STILI DI COMUNICAZIONE: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DIRETTO → Va al punto → Rischia di sembrare brusco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ANALITICO → Vuole dati → Rischia di sembrare freddo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ESPRESSIVO → Comunica con entusiasmo → Rischia di sembrare poco concreto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AMABILE → Cerca armonia → Rischia di sembrare indeciso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solidFill>
            <a:srgbClr val="F3E5F5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931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Caratteristica Barrios n. 14 Capacità di Comunicare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Vitaeology | Da Zero a Leader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MODULO 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0" y="137160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COMPETENZE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RELAZIONALI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0" y="25603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«Costruisci ponti prima di attraversare fiumi»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0" y="3200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Pilastro Barrios: RELAZIONI (n. 13-18)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0" y="36576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Durata: 9 ore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Unità 2.1 — La Costruzione della Fiducia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82296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144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CONCETTO: La fiducia non è un sentimento — è un DEPOSITO BANCARIO.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Ogni interazione è un versamento o un prelievo.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4 DEPOSITI PRINCIPALI: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Mantenere le promesse (anche le piccole)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Chiarire le aspettative PRIMA, non dopo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Dimostrare competenza nel proprio ambito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Mostrare interesse genuino per l'altro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solidFill>
            <a:srgbClr val="F3E5F5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5661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Caratteristica Barrios n. 5 Onestà e n. 13 Socievolezza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Vitaeology | Da Zero a Leader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Unità 2.2 — Il Riscontro che Funziona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144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CONCETTO: Il riscontro è come un regalo. Dipende più da COME lo incarti che da COSA contiene.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TECNICA: S-C-E (noto anche come S-B-I)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= Situazione (quando e dove)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= Comportamento (cosa ha fatto, fatti osservabili)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= Effetto (conseguenze concrete)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0" y="20116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«Sei sempre in ritardo» (giudizio sull'ESSERE)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«Non ti impegni» (giudizio sul FARE)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256032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«Lunedì alla riunione (S), sei arrivato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15 min dopo (C), e abbiamo dovuto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ripetere le decisioni (E)»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solidFill>
            <a:srgbClr val="F3E5F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5661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Caratteristica Barrios n. 14 Capacità di Comunicare e n. 16 Percezione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Vitaeology | Da Zero a Leader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Unità 2.3 — La Delega Efficace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144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CONCETTO: Delegare non è «scaricare lavoro» — è TRASFERIRE LA PROPRIETÀ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 UN RISULTATO. Come affidare le chiavi di casa.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5 LIVELLI DI DELEGA: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Aspetta istruzioni → «Fai esattamente questo»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Chiedi cosa fare → «Analizza e proponimi»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Raccomanda → «Dimmi cosa faresti, poi decido io»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Agisci e riferisci → «Fai e poi fammi sapere»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Agisci → «Fai, non serve che mi dici nulla»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5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Errore comune: delegare al livello 4 ma comportarsi come livello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Vitaeology | Da Zero a Leader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MODULO 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0" y="137160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AUTOGOVERNO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VISIONE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0" y="25603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«Guida la nave anche quando il vento cambia»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0" y="3200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Pilastro Barrios: VISIONE (n. 1-6)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0" y="36576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Durata: 9 ore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Unità 3.1 — La Costituzione Personale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82296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144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CONCETTO: Una costituzione è un insieme di regole che ti sei dato PRIMA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 trovarti nella situazione difficile. Come decidere da sobrio cosa farai quando sarai ubriaco.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3 DOMANDE COSTITUZIONALI: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Cosa non farò MAI, indipendentemente dalle conseguenze?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Cosa farò SEMPRE, anche quando è scomodo?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Quali compromessi sono accettabili e quali no?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solidFill>
            <a:srgbClr val="F3E5F5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383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Caratteristica Barrios n. 3 Dedizione agli Obiettivi e n. 5 Onestà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Vitaeology | Da Zero a Leader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Unità 3.2 — La Resistenza alla Pressione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144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CONCETTO: La pressione è come l'acqua che cerca crepe in una diga.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puoi eliminare l'acqua, ma puoi rinforzare la diga.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4 PUNTI DI CEDIMENTO TIPICI: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URGENZA ARTIFICIALE → «Devi decidere ORA»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AUTORITÀ PERCEPITA → «Tutti gli altri lo fanno»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RELAZIONE EMOTIVA → «Me lo devi, dopo tutto...»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PAURA DELLE CONSEGUENZE → «Se non lo fai, perderai...»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TECNICA: Il margine di 24 ore → «Ci penso e ti rispondo domani»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Vitaeology | Da Zero a Leader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Unità 3.3 — La Visione Strategica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144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CONCETTO: Una visione non è un sogno — è una DESTINAZIONE SU UNA MAPPA.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Avere una visione significa avere coordinate precise.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3 COMPONENTI DI UNA VISIONE UTILIZZABILE: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STATO FINALE → Cosa esiste che oggi non esiste?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INDICATORI → Come saprò di essere arrivato?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ORIZZONTE TEMPORALE → Entro quando?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TEST: È specifica? Ti emoziona? Puoi spiegarla in 2 minuti?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solidFill>
            <a:srgbClr val="F3E5F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657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Caratteristica Barrios n. 24 Immaginazione e n. 6 Ottimismo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Vitaeology | Da Zero a Leader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MODULO 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0" y="137160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TRASFORMATIVA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0" y="25603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«Lascia il giardino più fiorito di come l'hai trovato»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0" y="3200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Pilastro Barrios: ADATTAMENTO (n. 19-24)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0" y="36576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Durata: 9 ore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Unità 4.1 — Lo Sviluppo degli Altri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82296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144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CONCETTO: Sviluppare altri non è «insegnare» — è CREARE LE CONDIZIONI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PERCHÉ IMPARINO. Come un giardiniere: non puoi tirare la pianta.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4 CONDIZIONI PER LA CRESCITA: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SFIDE CALIBRATE → Né troppo facili né impossibili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RISCONTRO TEMPESTIVO → Vicino all'azione, non mesi dopo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SPAZIO PER GLI ERRORI → Sbagliare senza conseguenze catastrofiche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MODELLO VISIBILE → Vedere qualcuno che lo fa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solidFill>
            <a:srgbClr val="F3E5F5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474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Caratteristica Barrios n. 15 Pazienza e n. 19 Versatilità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Vitaeology | Da Zero a Leader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Unità 4.2 — Le Prospettive Multiple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144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CONCETTO: Le prospettive sono come finestre su una stanza.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ogni finestra vedi qualcosa di vero, ma nessuna mostra TUTTA la stanza.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TECNICA DEI «4 PUNTI DI VISTA»: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Cosa direbbe CHI CI GUADAGNA?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Cosa direbbe CHI CI PERDE?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Cosa direbbe CHI GUARDA DA FUORI?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Cosa direbbe CHI VERRÀ DOPO DI ME?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REGOLA D'ORO: Se non riesci a spiegare le ragioni di chi la pensa diversamente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modo che loro dicano «sì, è esattamente questo», non hai ancora capito.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Vitaeology | Da Zero a Leader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Unità 4.3 — La Successione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82296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144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CONCETTO: Un leader che non prepara il proprio sostituto non è un leader —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è un COLLO DI BOTTIGLIA. La successione è un PROCESSO, non un evento.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TEST DELLA SUCCESSIONE: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domani fossi impossibilitato a lavorare per 6 mesi: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Chi potrebbe sostituirti?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Cosa NON saprebbe fare?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Quanto tempo per prepararlo?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Se la risposta a «chi» è «nessuno», hai un problema OGGI.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solidFill>
            <a:srgbClr val="F3E5F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7490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La chiamata «più ti allontani, più il successo arriva» — punto di arrivo del percorso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Vitaeology | Da Zero a Leader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Riepilogo: I 12 Prodotti Finali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di controllo per il facilitatore: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MODULO 1: Consapevolezza di Sé
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Lista 5 risorse   ☐ Documento 3 valori   ☐ Profilo comunicazione
</a:t>
            </a:r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MODULO 2: Competenze Relazionali
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Piano fiducia 4 sett.   ☐ Traccia S-C-E   ☐ 3 deleghe attivate
</a:t>
            </a:r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MODULO 3: Autogoverno e Visione
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Costituzione personale   ☐ Punti cedimento + difese   ☐ Visione 3 anni
</a:t>
            </a:r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MODULO 4: Leadership Trasformativa
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Piano sviluppo 2 persone   ☐ Analisi 4 prospettive   ☐ Piano successione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Vitaeology | Da Zero a Leader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24 Caratteristiche di Barrios — Riferimento Rapido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PILASTRO VISIONE (1-6)
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Determinazione, Coraggio, Dedizione, Conoscenza, Onestà, Ottimismo
</a:t>
            </a:r>
            <a:pPr indent="0" marL="0">
              <a:buNone/>
            </a:pPr>
            <a:r>
              <a:rPr lang="en-US" sz="1200" b="1" dirty="0">
                <a:solidFill>
                  <a:srgbClr val="F5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PILASTRO AZIONE (7-12)
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Giudizio, Entusiasmo, Rischio, Energia, Intraprendenza, Persuasione
</a:t>
            </a:r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PILASTRO RELAZIONI (13-18)
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Socievolezza, Comunicare, Pazienza, Percezione, Perfezionismo, Umorismo
</a:t>
            </a:r>
            <a:pPr indent="0" marL="0">
              <a:buNone/>
            </a:pPr>
            <a:r>
              <a:rPr lang="en-US" sz="120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PILASTRO ADATTAMENTO (19-24)
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Versatilità, Adattabilità, Curiosità, Individualismo, Idealismo, Immaginazione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Approfondimento: «Leadership Autentica» di Fernando Marongiu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Vitaeology | Da Zero a Leader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VITAEOLOGY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Zero a Leader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0" y="2926080"/>
            <a:ext cx="1828800" cy="4572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www.vitaeology.com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Vitaeology — Programma di Sviluppo della Leadership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 Zero a Leader - Corso PRO</dc:title>
  <dc:subject>Programma di Sviluppo della Leadership</dc:subject>
  <dc:creator>Vitaeology</dc:creator>
  <cp:lastModifiedBy>Vitaeology</cp:lastModifiedBy>
  <cp:revision>1</cp:revision>
  <dcterms:created xsi:type="dcterms:W3CDTF">2026-01-24T10:28:14Z</dcterms:created>
  <dcterms:modified xsi:type="dcterms:W3CDTF">2026-01-24T10:28:14Z</dcterms:modified>
</cp:coreProperties>
</file>